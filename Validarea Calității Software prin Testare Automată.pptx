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6" r:id="rId9"/>
    <p:sldId id="269" r:id="rId10"/>
    <p:sldId id="270" r:id="rId11"/>
    <p:sldId id="265" r:id="rId12"/>
    <p:sldId id="271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C8CD6-632D-4013-8E73-E837E45F64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Validarea Calității Software prin Testare Automată</a:t>
            </a:r>
            <a:endParaRPr lang="ro-R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F4D147-C19E-4720-9CE8-CDCEFFEBDF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902291"/>
          </a:xfrm>
        </p:spPr>
        <p:txBody>
          <a:bodyPr>
            <a:normAutofit fontScale="77500" lnSpcReduction="20000"/>
          </a:bodyPr>
          <a:lstStyle/>
          <a:p>
            <a:r>
              <a:rPr lang="ro-RO" sz="3800" dirty="0"/>
              <a:t>Sistem de Gestiune Asociație - Bloc X69</a:t>
            </a:r>
            <a:endParaRPr lang="en-US" sz="3800" dirty="0"/>
          </a:p>
          <a:p>
            <a:br>
              <a:rPr lang="en-US" dirty="0"/>
            </a:br>
            <a:r>
              <a:rPr lang="en-US" dirty="0"/>
              <a:t>- stan </a:t>
            </a:r>
            <a:r>
              <a:rPr lang="en-US" dirty="0" err="1"/>
              <a:t>marian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spatarelu</a:t>
            </a:r>
            <a:r>
              <a:rPr lang="en-US" dirty="0"/>
              <a:t> </a:t>
            </a:r>
            <a:r>
              <a:rPr lang="en-US" dirty="0" err="1"/>
              <a:t>eduard</a:t>
            </a:r>
            <a:endParaRPr lang="en-US" dirty="0"/>
          </a:p>
          <a:p>
            <a:r>
              <a:rPr lang="en-US" dirty="0"/>
              <a:t>- Diaconescu </a:t>
            </a:r>
            <a:r>
              <a:rPr lang="en-US" dirty="0" err="1"/>
              <a:t>rares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153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8B45-A264-4E2C-BB57-C63B2E94E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Obiectivele Testării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932CC9-D5A3-47A6-8FA0-D65EE9A4FE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2248602"/>
            <a:ext cx="990599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Garantarea corectitudinii calculelor financiare (REQ-41).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Validarea fluxurilor de securitate (</a:t>
            </a:r>
            <a:r>
              <a:rPr kumimoji="0" lang="ro-RO" altLang="ro-RO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ro-RO" altLang="ro-RO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Logout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Asigurarea disponibilității paginilor principale.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Automatizarea verificărilor pentru a preveni erorile umane.</a:t>
            </a:r>
          </a:p>
        </p:txBody>
      </p:sp>
    </p:spTree>
    <p:extLst>
      <p:ext uri="{BB962C8B-B14F-4D97-AF65-F5344CB8AC3E}">
        <p14:creationId xmlns:p14="http://schemas.microsoft.com/office/powerpoint/2010/main" val="3624193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8B45-A264-4E2C-BB57-C63B2E94E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Tehnologii și Framework-uri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3481618-F6B1-4D35-92AF-5C2B66DD49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497" y="2305615"/>
            <a:ext cx="1059681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Pytest</a:t>
            </a:r>
            <a:r>
              <a:rPr kumimoji="0" lang="ro-RO" altLang="ro-R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Framework-</a:t>
            </a:r>
            <a:r>
              <a:rPr kumimoji="0" lang="ro-RO" altLang="ro-RO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ul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principal pentru rularea testelor.</a:t>
            </a:r>
            <a:endParaRPr kumimoji="0" lang="en-US" altLang="ro-RO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Pytest-Flask</a:t>
            </a:r>
            <a:r>
              <a:rPr kumimoji="0" lang="ro-RO" altLang="ro-R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ro-R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Extensie pentru simularea unui client web (fără a porni browser-</a:t>
            </a:r>
            <a:r>
              <a:rPr kumimoji="0" lang="ro-RO" altLang="ro-RO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ul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  <a:endParaRPr kumimoji="0" lang="en-US" altLang="ro-RO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Unittest.mock</a:t>
            </a:r>
            <a:r>
              <a:rPr kumimoji="0" lang="ro-RO" altLang="ro-R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Folosit pentru „</a:t>
            </a:r>
            <a:r>
              <a:rPr kumimoji="0" lang="ro-RO" altLang="ro-RO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Mocking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 (simularea bazei de date)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               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Testele rulează independent de serverul </a:t>
            </a:r>
            <a:r>
              <a:rPr kumimoji="0" lang="ro-RO" altLang="ro-RO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PostgreSQL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fiind rapide și sigure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343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8B45-A264-4E2C-BB57-C63B2E94E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Strategia de Testare (Categorii)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3481618-F6B1-4D35-92AF-5C2B66DD49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2602" y="2079858"/>
            <a:ext cx="9144000" cy="2418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ro-RO" sz="2000" dirty="0">
                <a:latin typeface="Arial" panose="020B0604020202020204" pitchFamily="34" charset="0"/>
                <a:cs typeface="Arial" panose="020B0604020202020204" pitchFamily="34" charset="0"/>
              </a:rPr>
              <a:t>Am implementat un set de </a:t>
            </a:r>
            <a:r>
              <a:rPr lang="ro-RO" sz="2000" b="1" dirty="0">
                <a:latin typeface="Arial" panose="020B0604020202020204" pitchFamily="34" charset="0"/>
                <a:cs typeface="Arial" panose="020B0604020202020204" pitchFamily="34" charset="0"/>
              </a:rPr>
              <a:t>15 teste automate</a:t>
            </a:r>
            <a:r>
              <a:rPr lang="ro-RO" sz="2000" dirty="0">
                <a:latin typeface="Arial" panose="020B0604020202020204" pitchFamily="34" charset="0"/>
                <a:cs typeface="Arial" panose="020B0604020202020204" pitchFamily="34" charset="0"/>
              </a:rPr>
              <a:t>, împărțite în:</a:t>
            </a:r>
          </a:p>
          <a:p>
            <a:pPr>
              <a:buFont typeface="+mj-lt"/>
              <a:buAutoNum type="arabicPeriod"/>
            </a:pPr>
            <a:r>
              <a:rPr lang="ro-RO" sz="2000" b="1" dirty="0">
                <a:latin typeface="Arial" panose="020B0604020202020204" pitchFamily="34" charset="0"/>
                <a:cs typeface="Arial" panose="020B0604020202020204" pitchFamily="34" charset="0"/>
              </a:rPr>
              <a:t>Teste de Autentificare:</a:t>
            </a:r>
            <a:r>
              <a:rPr lang="ro-RO" sz="2000" dirty="0">
                <a:latin typeface="Arial" panose="020B0604020202020204" pitchFamily="34" charset="0"/>
                <a:cs typeface="Arial" panose="020B0604020202020204" pitchFamily="34" charset="0"/>
              </a:rPr>
              <a:t> Validarea accesului și a sesiunilor.</a:t>
            </a:r>
          </a:p>
          <a:p>
            <a:pPr>
              <a:buFont typeface="+mj-lt"/>
              <a:buAutoNum type="arabicPeriod"/>
            </a:pPr>
            <a:r>
              <a:rPr lang="ro-RO" sz="2000" b="1" dirty="0">
                <a:latin typeface="Arial" panose="020B0604020202020204" pitchFamily="34" charset="0"/>
                <a:cs typeface="Arial" panose="020B0604020202020204" pitchFamily="34" charset="0"/>
              </a:rPr>
              <a:t>Teste de Navigare (</a:t>
            </a:r>
            <a:r>
              <a:rPr lang="ro-RO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ro-RO" sz="2000" b="1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r>
              <a:rPr lang="ro-RO" sz="2000" dirty="0">
                <a:latin typeface="Arial" panose="020B0604020202020204" pitchFamily="34" charset="0"/>
                <a:cs typeface="Arial" panose="020B0604020202020204" pitchFamily="34" charset="0"/>
              </a:rPr>
              <a:t> Verificarea rutelor HTTP.</a:t>
            </a:r>
          </a:p>
          <a:p>
            <a:pPr>
              <a:buFont typeface="+mj-lt"/>
              <a:buAutoNum type="arabicPeriod"/>
            </a:pPr>
            <a:r>
              <a:rPr lang="ro-RO" sz="2000" b="1" dirty="0">
                <a:latin typeface="Arial" panose="020B0604020202020204" pitchFamily="34" charset="0"/>
                <a:cs typeface="Arial" panose="020B0604020202020204" pitchFamily="34" charset="0"/>
              </a:rPr>
              <a:t>Teste de Logica de Business (Unit):</a:t>
            </a:r>
            <a:r>
              <a:rPr lang="ro-RO" sz="2000" dirty="0">
                <a:latin typeface="Arial" panose="020B0604020202020204" pitchFamily="34" charset="0"/>
                <a:cs typeface="Arial" panose="020B0604020202020204" pitchFamily="34" charset="0"/>
              </a:rPr>
              <a:t> Validarea formulei matematice.</a:t>
            </a:r>
          </a:p>
          <a:p>
            <a:pPr>
              <a:buFont typeface="+mj-lt"/>
              <a:buAutoNum type="arabicPeriod"/>
            </a:pPr>
            <a:r>
              <a:rPr lang="ro-RO" sz="2000" b="1" dirty="0">
                <a:latin typeface="Arial" panose="020B0604020202020204" pitchFamily="34" charset="0"/>
                <a:cs typeface="Arial" panose="020B0604020202020204" pitchFamily="34" charset="0"/>
              </a:rPr>
              <a:t>Teste de Reziliență:</a:t>
            </a:r>
            <a:r>
              <a:rPr lang="ro-RO" sz="2000" dirty="0">
                <a:latin typeface="Arial" panose="020B0604020202020204" pitchFamily="34" charset="0"/>
                <a:cs typeface="Arial" panose="020B0604020202020204" pitchFamily="34" charset="0"/>
              </a:rPr>
              <a:t> Gestionarea erorilor de conexiune la baza de date.</a:t>
            </a:r>
          </a:p>
        </p:txBody>
      </p:sp>
    </p:spTree>
    <p:extLst>
      <p:ext uri="{BB962C8B-B14F-4D97-AF65-F5344CB8AC3E}">
        <p14:creationId xmlns:p14="http://schemas.microsoft.com/office/powerpoint/2010/main" val="585652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8B45-A264-4E2C-BB57-C63B2E94E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Categoria 1 - Autentificare și Securitate</a:t>
            </a:r>
            <a:endParaRPr lang="ro-RO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3481618-F6B1-4D35-92AF-5C2B66DD49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1838" y="1619001"/>
            <a:ext cx="9905998" cy="2915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marL="0" indent="0" algn="just">
              <a:buNone/>
            </a:pPr>
            <a:r>
              <a:rPr lang="ro-RO" sz="2000" b="1" dirty="0">
                <a:latin typeface="Arial" panose="020B0604020202020204" pitchFamily="34" charset="0"/>
                <a:cs typeface="Arial" panose="020B0604020202020204" pitchFamily="34" charset="0"/>
              </a:rPr>
              <a:t>Ce am testat:</a:t>
            </a:r>
            <a:endParaRPr lang="ro-RO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sz="2000" dirty="0" err="1">
                <a:latin typeface="Arial" panose="020B0604020202020204" pitchFamily="34" charset="0"/>
                <a:cs typeface="Arial" panose="020B0604020202020204" pitchFamily="34" charset="0"/>
              </a:rPr>
              <a:t>Login</a:t>
            </a:r>
            <a:r>
              <a:rPr lang="ro-RO" sz="2000" dirty="0">
                <a:latin typeface="Arial" panose="020B0604020202020204" pitchFamily="34" charset="0"/>
                <a:cs typeface="Arial" panose="020B0604020202020204" pitchFamily="34" charset="0"/>
              </a:rPr>
              <a:t> reușit cu date corecte.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sz="2000" dirty="0" err="1">
                <a:latin typeface="Arial" panose="020B0604020202020204" pitchFamily="34" charset="0"/>
                <a:cs typeface="Arial" panose="020B0604020202020204" pitchFamily="34" charset="0"/>
              </a:rPr>
              <a:t>Login</a:t>
            </a:r>
            <a:r>
              <a:rPr lang="ro-RO" sz="2000" dirty="0">
                <a:latin typeface="Arial" panose="020B0604020202020204" pitchFamily="34" charset="0"/>
                <a:cs typeface="Arial" panose="020B0604020202020204" pitchFamily="34" charset="0"/>
              </a:rPr>
              <a:t> respins pentru </a:t>
            </a:r>
            <a:r>
              <a:rPr lang="ro-RO" sz="2000" dirty="0" err="1">
                <a:latin typeface="Arial" panose="020B0604020202020204" pitchFamily="34" charset="0"/>
                <a:cs typeface="Arial" panose="020B0604020202020204" pitchFamily="34" charset="0"/>
              </a:rPr>
              <a:t>credențiale</a:t>
            </a:r>
            <a:r>
              <a:rPr lang="ro-RO" sz="2000" dirty="0">
                <a:latin typeface="Arial" panose="020B0604020202020204" pitchFamily="34" charset="0"/>
                <a:cs typeface="Arial" panose="020B0604020202020204" pitchFamily="34" charset="0"/>
              </a:rPr>
              <a:t> invalide.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sz="2000" dirty="0" err="1">
                <a:latin typeface="Arial" panose="020B0604020202020204" pitchFamily="34" charset="0"/>
                <a:cs typeface="Arial" panose="020B0604020202020204" pitchFamily="34" charset="0"/>
              </a:rPr>
              <a:t>Logout</a:t>
            </a:r>
            <a:r>
              <a:rPr lang="ro-RO" sz="2000" dirty="0">
                <a:latin typeface="Arial" panose="020B0604020202020204" pitchFamily="34" charset="0"/>
                <a:cs typeface="Arial" panose="020B0604020202020204" pitchFamily="34" charset="0"/>
              </a:rPr>
              <a:t>: ștergerea completă a datelor din sesiune.</a:t>
            </a:r>
          </a:p>
          <a:p>
            <a:pPr marL="0" indent="0" algn="just">
              <a:buNone/>
            </a:pPr>
            <a:endParaRPr lang="ro-RO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E06402-B68A-41E4-B844-7BDC49AE0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1595" y="2097088"/>
            <a:ext cx="2306989" cy="218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590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8B45-A264-4E2C-BB57-C63B2E94E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200" dirty="0"/>
              <a:t>Categoria 2 - Validarea Calculului Întreținerii</a:t>
            </a:r>
            <a:endParaRPr lang="ro-RO" sz="3200" dirty="0"/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5B963202-F70C-478E-BDEA-FC4C20AE89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9570" y="2097088"/>
            <a:ext cx="10549683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Importanță: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Este nucleul financiar al aplicației și validează funcționalitatea critică </a:t>
            </a:r>
            <a:r>
              <a:rPr kumimoji="0" lang="ro-RO" altLang="ro-R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REQ-41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ro-RO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Corelarea Datelor din Sistem (Input):</a:t>
            </a:r>
            <a:endParaRPr kumimoji="0" lang="ro-RO" altLang="ro-RO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o-R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ro-RO" altLang="ro-R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Facturi Utilități: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4.060,50 RON (colectate din istoricul de facturi).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o-R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ro-RO" altLang="ro-R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Salarii Angajați: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6.500,00 RON (fondul fix de cheltuieli de personal).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o-R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ro-RO" altLang="ro-R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Camere în Asociație: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22 de camere (suma tuturor apartamentelor).</a:t>
            </a:r>
            <a:endParaRPr kumimoji="0" lang="en-US" altLang="ro-RO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o-RO" altLang="ro-RO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Validarea prin Testul Unit (Scenariu Real):</a:t>
            </a:r>
            <a:endParaRPr kumimoji="0" lang="en-US" altLang="ro-RO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 rulat algoritmul pentru </a:t>
            </a:r>
            <a:r>
              <a:rPr kumimoji="0" lang="ro-RO" altLang="ro-R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Apartamentul 1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(care are 2 camere și 2 locatari).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Rezultatul generat de motorul de calcul este exact cel așteptat: </a:t>
            </a:r>
            <a:r>
              <a:rPr kumimoji="0" lang="ro-RO" altLang="ro-R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960,05 RON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291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165FF8-C73E-4C47-8E75-D0C025002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049" y="3086562"/>
            <a:ext cx="5731899" cy="3295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88BC42-B05C-4478-8DF7-7115BCD7C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7411" y="380538"/>
            <a:ext cx="5777177" cy="242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285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8B45-A264-4E2C-BB57-C63B2E94E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200" dirty="0"/>
              <a:t>Categoria 3 - Navigare și Funcționalitate POST</a:t>
            </a:r>
            <a:endParaRPr lang="ro-RO" sz="3200" dirty="0"/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5B963202-F70C-478E-BDEA-FC4C20AE89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8888" y="2185512"/>
            <a:ext cx="8506111" cy="192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ro-RO" sz="2000" b="1" dirty="0">
                <a:latin typeface="Arial" panose="020B0604020202020204" pitchFamily="34" charset="0"/>
                <a:cs typeface="Arial" panose="020B0604020202020204" pitchFamily="34" charset="0"/>
              </a:rPr>
              <a:t>Ce am testat:</a:t>
            </a:r>
            <a:endParaRPr lang="ro-RO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o-RO" sz="2000" dirty="0">
                <a:latin typeface="Arial" panose="020B0604020202020204" pitchFamily="34" charset="0"/>
                <a:cs typeface="Arial" panose="020B0604020202020204" pitchFamily="34" charset="0"/>
              </a:rPr>
              <a:t>Încărcarea paginilor (Facturi, Apă, Plăți) - Status 200 OK.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sz="2000" dirty="0">
                <a:latin typeface="Arial" panose="020B0604020202020204" pitchFamily="34" charset="0"/>
                <a:cs typeface="Arial" panose="020B0604020202020204" pitchFamily="34" charset="0"/>
              </a:rPr>
              <a:t>Rutele de adăugare date (POST): Verificarea redirectării după inserare.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sz="2000" dirty="0">
                <a:latin typeface="Arial" panose="020B0604020202020204" pitchFamily="34" charset="0"/>
                <a:cs typeface="Arial" panose="020B0604020202020204" pitchFamily="34" charset="0"/>
              </a:rPr>
              <a:t>Gestionarea paginilor inexistente (Eroarea 404).</a:t>
            </a:r>
          </a:p>
        </p:txBody>
      </p:sp>
    </p:spTree>
    <p:extLst>
      <p:ext uri="{BB962C8B-B14F-4D97-AF65-F5344CB8AC3E}">
        <p14:creationId xmlns:p14="http://schemas.microsoft.com/office/powerpoint/2010/main" val="4274734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8E9E75-715D-47B9-BED1-043737117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260" y="3868270"/>
            <a:ext cx="2645555" cy="13661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159581-6B8B-4668-86C8-75D65F43B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260" y="776982"/>
            <a:ext cx="6413657" cy="29324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5897EC-C92F-4A07-9856-894B844C6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260" y="5479170"/>
            <a:ext cx="10053327" cy="52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191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3013E8-B5CA-437A-BCF1-05A820117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260" y="776982"/>
            <a:ext cx="6413657" cy="24388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330727-BFAA-4F39-AA53-8489A2D0E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260" y="3365632"/>
            <a:ext cx="3571846" cy="18796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8491D8-7187-4EEF-9DF3-4523DA25E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260" y="5395016"/>
            <a:ext cx="10062293" cy="43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073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8B45-A264-4E2C-BB57-C63B2E94E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200" dirty="0"/>
              <a:t>Gestiunea Erorilor (</a:t>
            </a:r>
            <a:r>
              <a:rPr lang="ro-RO" sz="3200" dirty="0" err="1"/>
              <a:t>Mocking</a:t>
            </a:r>
            <a:r>
              <a:rPr lang="ro-RO" sz="3200" dirty="0"/>
              <a:t> </a:t>
            </a:r>
            <a:r>
              <a:rPr lang="ro-RO" sz="3200" dirty="0" err="1"/>
              <a:t>Database</a:t>
            </a:r>
            <a:r>
              <a:rPr lang="ro-RO" sz="3200" dirty="0"/>
              <a:t>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6F05203-6FA7-42D8-A8AB-FF9BF275E2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8188" y="2483913"/>
            <a:ext cx="1060216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 testat comportamentul aplicației în cazul unei căderi de sistem (</a:t>
            </a:r>
            <a:r>
              <a:rPr kumimoji="0" lang="ro-RO" altLang="ro-RO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o-RO" altLang="ro-RO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  <a:endParaRPr kumimoji="0" lang="en-US" altLang="ro-RO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Aplicația trebuie să afișeze o pagină goală, dar funcțională, fără să "crape" (</a:t>
            </a:r>
            <a:r>
              <a:rPr kumimoji="0" lang="ro-RO" altLang="ro-RO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crash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cu erori </a:t>
            </a:r>
            <a:r>
              <a:rPr kumimoji="0" lang="ro-RO" altLang="ro-RO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brute.</a:t>
            </a:r>
          </a:p>
        </p:txBody>
      </p:sp>
    </p:spTree>
    <p:extLst>
      <p:ext uri="{BB962C8B-B14F-4D97-AF65-F5344CB8AC3E}">
        <p14:creationId xmlns:p14="http://schemas.microsoft.com/office/powerpoint/2010/main" val="3856920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0C35854-303E-40B1-92BF-BDFF7E485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endParaRPr lang="ro-RO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BFA7BF-9F21-40F3-9F30-1DC138418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3344720"/>
            <a:ext cx="5906324" cy="2572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B1D425-CE00-4564-87FD-420EA5467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502" y="3382825"/>
            <a:ext cx="1686160" cy="2191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12E1D8-8B6D-4220-90FE-473BA3CB1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413" y="3792064"/>
            <a:ext cx="8520249" cy="19376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C99B14-5344-483F-AC04-B21E89405B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413" y="128440"/>
            <a:ext cx="5988424" cy="293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079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8B45-A264-4E2C-BB57-C63B2E94E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200" dirty="0"/>
              <a:t>REZULTATUL FINAL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AE5754-BB3C-4B52-BDF1-86256AD07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323" y="2496821"/>
            <a:ext cx="10268088" cy="186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902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8B45-A264-4E2C-BB57-C63B2E94E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200" dirty="0"/>
              <a:t>Concluzii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89BF67F-274B-498F-BDB3-CFF8D1B7A5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82" y="2272499"/>
            <a:ext cx="1121659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estarea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automată reduce timpul de QA cu peste 90%.</a:t>
            </a:r>
            <a:endParaRPr kumimoji="0" lang="en-US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Codul este mult mai ușor de întreținut (dacă schimbăm ceva în viitor, testele ne spun imediat ce s-a stricat).</a:t>
            </a:r>
            <a:endParaRPr kumimoji="0" lang="en-US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Aplicația este pregătită pentru mediul de producție.</a:t>
            </a:r>
          </a:p>
        </p:txBody>
      </p:sp>
    </p:spTree>
    <p:extLst>
      <p:ext uri="{BB962C8B-B14F-4D97-AF65-F5344CB8AC3E}">
        <p14:creationId xmlns:p14="http://schemas.microsoft.com/office/powerpoint/2010/main" val="19168689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{7F2DDF75-5CFB-4C2B-AC18-2AE3014D1E6E}TF6d5feb1e-e145-43f1-b745-cb4b54c5ee975d365c52-ce22229b0e48</Template>
  <TotalTime>40</TotalTime>
  <Words>443</Words>
  <Application>Microsoft Office PowerPoint</Application>
  <PresentationFormat>Widescreen</PresentationFormat>
  <Paragraphs>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Tw Cen MT</vt:lpstr>
      <vt:lpstr>Circuit</vt:lpstr>
      <vt:lpstr>Validarea Calității Software prin Testare Automată</vt:lpstr>
      <vt:lpstr>Obiectivele Testării</vt:lpstr>
      <vt:lpstr>Tehnologii și Framework-uri</vt:lpstr>
      <vt:lpstr>Strategia de Testare (Categorii)</vt:lpstr>
      <vt:lpstr>Categoria 1 - Autentificare și Securitate</vt:lpstr>
      <vt:lpstr>Categoria 2 - Validarea Calculului Întreținerii</vt:lpstr>
      <vt:lpstr>PowerPoint Presentation</vt:lpstr>
      <vt:lpstr>Categoria 3 - Navigare și Funcționalitate POST</vt:lpstr>
      <vt:lpstr>PowerPoint Presentation</vt:lpstr>
      <vt:lpstr>PowerPoint Presentation</vt:lpstr>
      <vt:lpstr>Gestiunea Erorilor (Mocking Database)</vt:lpstr>
      <vt:lpstr>PowerPoint Presentation</vt:lpstr>
      <vt:lpstr>REZULTATUL FINAL</vt:lpstr>
      <vt:lpstr>Concluzii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Validarea Calității Software prin Testare Automată</dc:title>
  <dc:creator>Rares Diaconescu</dc:creator>
  <cp:lastModifiedBy>Rares Diaconescu</cp:lastModifiedBy>
  <cp:revision>5</cp:revision>
  <dcterms:created xsi:type="dcterms:W3CDTF">2026-05-19T07:05:47Z</dcterms:created>
  <dcterms:modified xsi:type="dcterms:W3CDTF">2026-05-19T07:46:05Z</dcterms:modified>
</cp:coreProperties>
</file>